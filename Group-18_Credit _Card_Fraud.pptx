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3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572000" cy="45720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2926080"/>
            <a:ext cx="3657600" cy="3657600"/>
          </a:xfrm>
          <a:prstGeom prst="ellipse">
            <a:avLst/>
          </a:prstGeom>
          <a:solidFill>
            <a:srgbClr val="0D7A55">
              <a:alpha val="20000"/>
            </a:srgbClr>
          </a:solidFill>
          <a:ln w="12700">
            <a:solidFill>
              <a:srgbClr val="0D7A55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723  ·  Course Presentation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Card Fraud Detection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Deep Learning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44417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Zhang, Han, Xu &amp; Wang (2021) · Information Sciences 557, pp. 302–316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E4966A12-3345-AA78-77A3-16D1E264BAB3}"/>
              </a:ext>
            </a:extLst>
          </p:cNvPr>
          <p:cNvSpPr/>
          <p:nvPr/>
        </p:nvSpPr>
        <p:spPr>
          <a:xfrm>
            <a:off x="457200" y="2074582"/>
            <a:ext cx="8229600" cy="678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18 </a:t>
            </a: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7F5D902B-24CB-91E9-8823-1372EE2A7DF4}"/>
              </a:ext>
            </a:extLst>
          </p:cNvPr>
          <p:cNvSpPr/>
          <p:nvPr/>
        </p:nvSpPr>
        <p:spPr>
          <a:xfrm>
            <a:off x="457200" y="3316507"/>
            <a:ext cx="8229600" cy="678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Members: </a:t>
            </a:r>
            <a:r>
              <a:rPr lang="en-US" dirty="0" err="1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Ashmil</a:t>
            </a:r>
            <a:r>
              <a:rPr lang="en-US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Saxena, Poonam Gupta, Navdeep, Sanjeeta, Keshav Soni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Fraud Detection Is So Difficult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98.7% of transactions are completely genuine — the model must reliably identify the remaining 1.3%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3108960" cy="1691640"/>
          </a:xfrm>
          <a:prstGeom prst="roundRect">
            <a:avLst>
              <a:gd name="adj" fmla="val 6486"/>
            </a:avLst>
          </a:prstGeom>
          <a:solidFill>
            <a:srgbClr val="111827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75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is fraudulent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must be caught before approval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794760" y="1188720"/>
            <a:ext cx="1664208" cy="1691640"/>
          </a:xfrm>
          <a:prstGeom prst="roundRect">
            <a:avLst>
              <a:gd name="adj" fmla="val 6593"/>
            </a:avLst>
          </a:prstGeom>
          <a:solidFill>
            <a:srgbClr val="FEE2E2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0" y="1243584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26187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86200" y="175564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Volume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86200" y="2121408"/>
            <a:ext cx="1481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transactions process every day — every single one needs an instant decision.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05272" y="1188720"/>
            <a:ext cx="1664208" cy="1691640"/>
          </a:xfrm>
          <a:prstGeom prst="roundRect">
            <a:avLst>
              <a:gd name="adj" fmla="val 6593"/>
            </a:avLst>
          </a:prstGeom>
          <a:solidFill>
            <a:srgbClr val="FEF3C7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124358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199632" y="126187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96712" y="175564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Split-Second Call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96712" y="2121408"/>
            <a:ext cx="1481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approve/decline verdict must arrive before the card reader beeps — there is no time to pause.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15784" y="1188720"/>
            <a:ext cx="1664208" cy="1691640"/>
          </a:xfrm>
          <a:prstGeom prst="roundRect">
            <a:avLst>
              <a:gd name="adj" fmla="val 6593"/>
            </a:avLst>
          </a:prstGeom>
          <a:solidFill>
            <a:srgbClr val="D1FAE5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10144" y="1243584"/>
            <a:ext cx="457200" cy="457200"/>
          </a:xfrm>
          <a:prstGeom prst="ellipse">
            <a:avLst/>
          </a:prstGeom>
          <a:solidFill>
            <a:srgbClr val="0D7A55"/>
          </a:solidFill>
          <a:ln/>
        </p:spPr>
      </p:sp>
      <p:sp>
        <p:nvSpPr>
          <p:cNvPr id="19" name="Text 17"/>
          <p:cNvSpPr/>
          <p:nvPr/>
        </p:nvSpPr>
        <p:spPr>
          <a:xfrm>
            <a:off x="8010144" y="126187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07224" y="175564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Hides Well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07224" y="2121408"/>
            <a:ext cx="1481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individual fraudulent purchase can look completely ordinary. Only behaviour over time reveals the pattern.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035808"/>
            <a:ext cx="8321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3145536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fraudsters keep changing tactics: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3493008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transaction volumes — millions of purchases flow through systems every single day.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fraudulent charge must be blocked before it completes — there is no review window.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hides in plain sight — a fake purchase can look entirely ordinary in isolation.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methods criminals use are continuously updated, so static rules become outdated fast.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Attack Patterns the System Must Recognise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fraud archetype leaves a distinct behavioural trace — exactly what HOBA is designed to catch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2743200" cy="3721608"/>
          </a:xfrm>
          <a:prstGeom prst="roundRect">
            <a:avLst>
              <a:gd name="adj" fmla="val 4667"/>
            </a:avLst>
          </a:prstGeom>
          <a:solidFill>
            <a:srgbClr val="FEE2E2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1208" y="1298448"/>
            <a:ext cx="621792" cy="6217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316736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1389888"/>
            <a:ext cx="1810512" cy="329184"/>
          </a:xfrm>
          <a:prstGeom prst="roundRect">
            <a:avLst>
              <a:gd name="adj" fmla="val 27778"/>
            </a:avLst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39903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credit drain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" y="1993392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Stolen or Lost Card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1208" y="2487168"/>
            <a:ext cx="2523744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fraudster races to extract as much value as possible before the theft is noticed. A sudden burst of high-value spending drains the available credit in minutes — a pace no genuine cardholder ever sets.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55848" y="1207008"/>
            <a:ext cx="2743200" cy="3721608"/>
          </a:xfrm>
          <a:prstGeom prst="roundRect">
            <a:avLst>
              <a:gd name="adj" fmla="val 4667"/>
            </a:avLst>
          </a:prstGeom>
          <a:solidFill>
            <a:srgbClr val="FEF3C7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65576" y="1298448"/>
            <a:ext cx="621792" cy="6217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3465576" y="1316736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78808" y="1389888"/>
            <a:ext cx="1810512" cy="329184"/>
          </a:xfrm>
          <a:prstGeom prst="roundRect">
            <a:avLst>
              <a:gd name="adj" fmla="val 27778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4178808" y="139903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impossibility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65576" y="1993392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Counterfeit (Cloned) Card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65576" y="2487168"/>
            <a:ext cx="2523744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details are skimmed and copied onto a blank card. Charges appear in a distant city at the very moment the real card remains in the owner's pocket — an impossibility that exposes the fraud.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0216" y="1207008"/>
            <a:ext cx="2743200" cy="3721608"/>
          </a:xfrm>
          <a:prstGeom prst="roundRect">
            <a:avLst>
              <a:gd name="adj" fmla="val 4667"/>
            </a:avLst>
          </a:prstGeom>
          <a:solidFill>
            <a:srgbClr val="D1FAE5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9944" y="1298448"/>
            <a:ext cx="621792" cy="621792"/>
          </a:xfrm>
          <a:prstGeom prst="ellipse">
            <a:avLst/>
          </a:prstGeom>
          <a:solidFill>
            <a:srgbClr val="0D7A5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9944" y="1316736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23176" y="1389888"/>
            <a:ext cx="1810512" cy="329184"/>
          </a:xfrm>
          <a:prstGeom prst="roundRect">
            <a:avLst>
              <a:gd name="adj" fmla="val 27778"/>
            </a:avLst>
          </a:prstGeom>
          <a:solidFill>
            <a:srgbClr val="0D7A55"/>
          </a:solidFill>
          <a:ln/>
        </p:spPr>
      </p:sp>
      <p:sp>
        <p:nvSpPr>
          <p:cNvPr id="22" name="Text 20"/>
          <p:cNvSpPr/>
          <p:nvPr/>
        </p:nvSpPr>
        <p:spPr>
          <a:xfrm>
            <a:off x="7123176" y="139903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Night-time foreign activity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9944" y="1993392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Card-Not-Present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9944" y="2487168"/>
            <a:ext cx="2523744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 number is used on a foreign website at 3 a.m. — a time and location completely inconsistent with the cardholder's normal online behaviour and sleeping pattern.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Study Contributes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advances, evaluated on a real Chinese-bank dataset with 118 k transactions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4133088" cy="1572768"/>
          </a:xfrm>
          <a:prstGeom prst="roundRect">
            <a:avLst>
              <a:gd name="adj" fmla="val 6977"/>
            </a:avLst>
          </a:prstGeom>
          <a:solidFill>
            <a:srgbClr val="D1FAE5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316736"/>
            <a:ext cx="530352" cy="530352"/>
          </a:xfrm>
          <a:prstGeom prst="ellipse">
            <a:avLst/>
          </a:prstGeom>
          <a:solidFill>
            <a:srgbClr val="0D7A55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335024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52144" y="1316736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HOBA Feature Engineering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85876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behaviour is analysed within homogeneous groups (same type), adding geographic distance and open-to-buy utilisation — two signals the classic RFM framework completely ignores.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880360"/>
            <a:ext cx="4133088" cy="1572768"/>
          </a:xfrm>
          <a:prstGeom prst="roundRect">
            <a:avLst>
              <a:gd name="adj" fmla="val 6977"/>
            </a:avLst>
          </a:prstGeom>
          <a:solidFill>
            <a:srgbClr val="EFF6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2990088"/>
            <a:ext cx="530352" cy="5303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3008376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52144" y="2990088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Classifiers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410712"/>
            <a:ext cx="385876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DBN, CNN and RNN learn rich representations directly from the large feature set — no manual selection needed — consistently outperforming shallow alternatives (BPNN, SVM, Random Forest).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207008"/>
            <a:ext cx="4069080" cy="3246120"/>
          </a:xfrm>
          <a:prstGeom prst="roundRect">
            <a:avLst>
              <a:gd name="adj" fmla="val 3944"/>
            </a:avLst>
          </a:prstGeom>
          <a:solidFill>
            <a:srgbClr val="111827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35331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755648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DBN + HOBA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846320" y="234086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the strongest overall performance across all 12 model–feature combinations.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944368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HOBA lifts every single classifier, with the biggest gains under the most demanding business constraint: a low, business-acceptable false-positive rate.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46320" y="3785616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benefits from richer features.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Challenge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original bank data cannot be used — and how we replicated its structure faithfully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4160520" cy="274320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43584"/>
            <a:ext cx="3977640" cy="411480"/>
          </a:xfrm>
          <a:prstGeom prst="roundRect">
            <a:avLst>
              <a:gd name="adj" fmla="val 15556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71016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Original Data Cannot Be Used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85876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bank records — 153,685 transactions from a major Chinese commercial bank, never publicly released.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Kaggle fraud dataset is PCA-anonymised: country, merchant category, entry mode, account ID and open-to-buy are all stripped out.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HOBA is defined on exactly those raw fields — it cannot even be applied to the anonymised version.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069080" cy="274320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243584"/>
            <a:ext cx="3886200" cy="411480"/>
          </a:xfrm>
          <a:prstGeom prst="roundRect">
            <a:avLst>
              <a:gd name="adj" fmla="val 15556"/>
            </a:avLst>
          </a:prstGeom>
          <a:solidFill>
            <a:srgbClr val="0D7A55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7101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Schema-Faithful Synthetic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737360"/>
            <a:ext cx="376732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generated with the exact Table 1 attributes the paper lists — same schema, same fields.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behavioural fraud archetypes from the paper are injected: card theft, counterfeit, card-not-present.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subtle in amount and frequency but abnormal in location, open-to-buy drain, channel and time — so RFM is genuinely handicapped.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4069080"/>
            <a:ext cx="8321040" cy="886968"/>
          </a:xfrm>
          <a:prstGeom prst="roundRect">
            <a:avLst>
              <a:gd name="adj" fmla="val 10309"/>
            </a:avLst>
          </a:prstGeom>
          <a:solidFill>
            <a:srgbClr val="111827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416052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118,063 synthetic transactions at 1.32% fraud rate — exactly matching the paper's reported 1.33%. Replicates the framework, not the confidential bank data.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Engineering: HOBA vs RFM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46120" y="868680"/>
            <a:ext cx="2651760" cy="1508760"/>
          </a:xfrm>
          <a:prstGeom prst="roundRect">
            <a:avLst>
              <a:gd name="adj" fmla="val 8485"/>
            </a:avLst>
          </a:prstGeom>
          <a:solidFill>
            <a:srgbClr val="111827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91840" y="93268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12.6×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91840" y="169164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features than RFM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868680"/>
            <a:ext cx="2697480" cy="4069080"/>
          </a:xfrm>
          <a:prstGeom prst="roundRect">
            <a:avLst>
              <a:gd name="adj" fmla="val 4068"/>
            </a:avLst>
          </a:prstGeom>
          <a:solidFill>
            <a:srgbClr val="FEF3C7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923544"/>
            <a:ext cx="2514600" cy="420624"/>
          </a:xfrm>
          <a:prstGeom prst="roundRect">
            <a:avLst>
              <a:gd name="adj" fmla="val 15217"/>
            </a:avLst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5097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 —  Benchmark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features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94360" y="1938528"/>
            <a:ext cx="2423160" cy="285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· Frequency · Monetary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transactions aggregated together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separation by transaction type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location or geography signal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open-to-buy utilisation ratio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868680"/>
            <a:ext cx="2697480" cy="4069080"/>
          </a:xfrm>
          <a:prstGeom prst="roundRect">
            <a:avLst>
              <a:gd name="adj" fmla="val 4068"/>
            </a:avLst>
          </a:prstGeom>
          <a:solidFill>
            <a:srgbClr val="D1FAE5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923544"/>
            <a:ext cx="2514600" cy="420624"/>
          </a:xfrm>
          <a:prstGeom prst="roundRect">
            <a:avLst>
              <a:gd name="adj" fmla="val 15217"/>
            </a:avLst>
          </a:prstGeom>
          <a:solidFill>
            <a:srgbClr val="0D7A55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95097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HOBA  —  Proposed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141732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518 features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17920" y="1938528"/>
            <a:ext cx="2423160" cy="285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 × Period × Measure × Statistic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within homogeneous groups (cash / online / foreign / abnormal-time …)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distance between transactions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Open-to-buy utilisation (relative spend ratio)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Per-group time intervals between consecutive transactions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Classifiers, Faithfully Reimplemented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trained on both RFM and HOBA features · class imbalance (1.3% fraud) handled with oversampling / class weights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1795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2743200" cy="1353312"/>
          </a:xfrm>
          <a:prstGeom prst="roundRect">
            <a:avLst>
              <a:gd name="adj" fmla="val 8108"/>
            </a:avLst>
          </a:prstGeom>
          <a:solidFill>
            <a:srgbClr val="FEF3C7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1208" y="1664208"/>
            <a:ext cx="127101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BPNN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21208" y="22402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Back-Propagation Neural Network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" y="256032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hidden-layer feedforward net — the original 'neural network' baseline.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1572768"/>
            <a:ext cx="2743200" cy="1353312"/>
          </a:xfrm>
          <a:prstGeom prst="roundRect">
            <a:avLst>
              <a:gd name="adj" fmla="val 8108"/>
            </a:avLst>
          </a:prstGeom>
          <a:solidFill>
            <a:srgbClr val="FEF3C7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65576" y="1664208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65576" y="22402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65576" y="256032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RBF-kernel SVM — finds the maximum-margin boundary in high-dimensional feature space.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0216" y="1572768"/>
            <a:ext cx="2743200" cy="1353312"/>
          </a:xfrm>
          <a:prstGeom prst="roundRect">
            <a:avLst>
              <a:gd name="adj" fmla="val 8108"/>
            </a:avLst>
          </a:prstGeom>
          <a:solidFill>
            <a:srgbClr val="FEF3C7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9944" y="1664208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9944" y="22402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9944" y="256032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200 decision trees with bootstrapped samples and feature randomisation.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063240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0D7A55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0723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456432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D1FAE5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1208" y="3547872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DBN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21208" y="413308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Belief Network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1208" y="4443984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RBMs pretrained unsupervised, then fine-tuned with labelled fraud data.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55848" y="3456432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D1FAE5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65576" y="3547872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465576" y="413308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65576" y="4443984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 convolutions over the recent-transaction feature matrix — detects spatial patterns.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0216" y="3456432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D1FAE5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9944" y="3547872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409944" y="413308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Elman Recurrent Network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9944" y="4443984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model with a context layer capturing the temporal evolution of spending.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79" y="201168"/>
            <a:ext cx="993657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- DBN + HOBA Is the Strongest Performer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(Fig. 6 equivalent) — HOBA models hug the top-left corner; best of all 12 model–feature combinations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48920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6187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— DBN with and without HOBA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HOBA (RFM)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029968"/>
            <a:ext cx="1985528" cy="384048"/>
          </a:xfrm>
          <a:prstGeom prst="roundRect">
            <a:avLst>
              <a:gd name="adj" fmla="val 14286"/>
            </a:avLst>
          </a:prstGeom>
          <a:solidFill>
            <a:srgbClr val="D1D5DB"/>
          </a:solidFill>
          <a:ln/>
        </p:spPr>
      </p:sp>
      <p:sp>
        <p:nvSpPr>
          <p:cNvPr id="8" name="Text 6"/>
          <p:cNvSpPr/>
          <p:nvPr/>
        </p:nvSpPr>
        <p:spPr>
          <a:xfrm>
            <a:off x="2671328" y="202996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54203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HOBA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834640"/>
            <a:ext cx="3590849" cy="384048"/>
          </a:xfrm>
          <a:prstGeom prst="roundRect">
            <a:avLst>
              <a:gd name="adj" fmla="val 14286"/>
            </a:avLst>
          </a:prstGeom>
          <a:solidFill>
            <a:srgbClr val="0D7A55"/>
          </a:solidFill>
          <a:ln/>
        </p:spPr>
      </p:sp>
      <p:sp>
        <p:nvSpPr>
          <p:cNvPr id="11" name="Text 9"/>
          <p:cNvSpPr/>
          <p:nvPr/>
        </p:nvSpPr>
        <p:spPr>
          <a:xfrm>
            <a:off x="4276649" y="283464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337560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+0.38 improvement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675888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0.5 classification threshold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68112" y="1170432"/>
            <a:ext cx="3310128" cy="1664208"/>
          </a:xfrm>
          <a:prstGeom prst="roundRect">
            <a:avLst>
              <a:gd name="adj" fmla="val 6593"/>
            </a:avLst>
          </a:prstGeom>
          <a:solidFill>
            <a:srgbClr val="111827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32120" y="1234440"/>
            <a:ext cx="3182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0.997</a:t>
            </a:r>
            <a:endParaRPr lang="en-US" sz="5800" dirty="0"/>
          </a:p>
        </p:txBody>
      </p:sp>
      <p:sp>
        <p:nvSpPr>
          <p:cNvPr id="16" name="Text 14"/>
          <p:cNvSpPr/>
          <p:nvPr/>
        </p:nvSpPr>
        <p:spPr>
          <a:xfrm>
            <a:off x="5532120" y="2057400"/>
            <a:ext cx="3182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— DBN + HOBA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all 12 models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68112" y="2999232"/>
            <a:ext cx="3310128" cy="1920240"/>
          </a:xfrm>
          <a:prstGeom prst="roundRect">
            <a:avLst>
              <a:gd name="adj" fmla="val 5714"/>
            </a:avLst>
          </a:prstGeom>
          <a:solidFill>
            <a:srgbClr val="0D7A55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32120" y="3063240"/>
            <a:ext cx="3182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+0.38</a:t>
            </a:r>
            <a:endParaRPr lang="en-US" sz="5800" dirty="0"/>
          </a:p>
        </p:txBody>
      </p:sp>
      <p:sp>
        <p:nvSpPr>
          <p:cNvPr id="19" name="Text 17"/>
          <p:cNvSpPr/>
          <p:nvPr/>
        </p:nvSpPr>
        <p:spPr>
          <a:xfrm>
            <a:off x="5532120" y="3913632"/>
            <a:ext cx="31821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gain from HOBA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(0.47 → 0.85 at cutoff 0.5)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BBDF39-142B-0A36-185A-D3826C93D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" y="811090"/>
            <a:ext cx="8991666" cy="3657627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C74ADB3B-11A1-D575-9A80-380168AADB41}"/>
              </a:ext>
            </a:extLst>
          </p:cNvPr>
          <p:cNvSpPr/>
          <p:nvPr/>
        </p:nvSpPr>
        <p:spPr>
          <a:xfrm>
            <a:off x="411479" y="201168"/>
            <a:ext cx="187736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curves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08492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Practical Test: Performance Under Low FPR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under a 3% false-positive rate tolerance (Table 5b) — the metric the bank actually cares about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4023360" cy="2578608"/>
          </a:xfrm>
          <a:prstGeom prst="roundRect">
            <a:avLst>
              <a:gd name="adj" fmla="val 4965"/>
            </a:avLst>
          </a:prstGeom>
          <a:solidFill>
            <a:srgbClr val="111827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61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HOBA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fraud attempts blocked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≤ 3% false-positive rate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70432"/>
            <a:ext cx="4023360" cy="2578608"/>
          </a:xfrm>
          <a:prstGeom prst="roundRect">
            <a:avLst>
              <a:gd name="adj" fmla="val 4965"/>
            </a:avLst>
          </a:prstGeom>
          <a:solidFill>
            <a:srgbClr val="F9FAFB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261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Baseline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627632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8800" dirty="0"/>
          </a:p>
        </p:txBody>
      </p:sp>
      <p:sp>
        <p:nvSpPr>
          <p:cNvPr id="11" name="Text 9"/>
          <p:cNvSpPr/>
          <p:nvPr/>
        </p:nvSpPr>
        <p:spPr>
          <a:xfrm>
            <a:off x="4754880" y="2697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fraud attempts blocked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≤ 3% false-positive rate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858768"/>
            <a:ext cx="8321040" cy="1115568"/>
          </a:xfrm>
          <a:prstGeom prst="roundRect">
            <a:avLst>
              <a:gd name="adj" fmla="val 8197"/>
            </a:avLst>
          </a:prstGeom>
          <a:solidFill>
            <a:srgbClr val="D1FAE5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93192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224528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every 100 fraud attempts, the HOBA system stops 97 — versus 89 using RFM. That is roughly two-thirds fewer fraud cases slipping through, with the same ceiling on how often legitimate customers are inconvenienced.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More Fraud Without Annoying Real Customers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recall and a controlled false-positive rate — achieved simultaneously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3840480" cy="3767328"/>
          </a:xfrm>
          <a:prstGeom prst="roundRect">
            <a:avLst>
              <a:gd name="adj" fmla="val 3398"/>
            </a:avLst>
          </a:prstGeom>
          <a:solidFill>
            <a:srgbClr val="0D7A55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89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 100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purchases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receive a second look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41985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real customers are rarely interrupted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170432"/>
            <a:ext cx="4297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2618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That Matters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1627632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fraud caught AND fewer false alarms — at the same time. That is what makes the smarter approach genuinely superior rather than simply stricter.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3090672"/>
            <a:ext cx="4297680" cy="1847088"/>
          </a:xfrm>
          <a:prstGeom prst="roundRect">
            <a:avLst>
              <a:gd name="adj" fmla="val 5941"/>
            </a:avLst>
          </a:prstGeom>
          <a:solidFill>
            <a:srgbClr val="D1FAE5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3182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Difficult to Achieve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3547872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model can catch more fraud by flagging more transactions — but that raises false alarms. HOBA's richer features let the classifier discriminate rather than cast a wide net, keeping the false-positive rate within the business-acceptable 3% threshold while maximising recall.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24128"/>
            <a:ext cx="658368" cy="658368"/>
          </a:xfrm>
          <a:prstGeom prst="ellipse">
            <a:avLst/>
          </a:prstGeom>
          <a:solidFill>
            <a:srgbClr val="0D7A5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42416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3312" y="1005840"/>
            <a:ext cx="7205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matter as much as the 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371600"/>
            <a:ext cx="7205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Homogeneity-oriented behaviour analysis outperforms RFM for every single classifier tested — shallow and deep alike. The framework, not just the architecture, drives the improvement.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267712"/>
            <a:ext cx="832104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77440"/>
            <a:ext cx="658368" cy="658368"/>
          </a:xfrm>
          <a:prstGeom prst="ellipse">
            <a:avLst/>
          </a:prstGeom>
          <a:solidFill>
            <a:srgbClr val="0D7A5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95728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53312" y="2359152"/>
            <a:ext cx="7205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DBN + HOBA is the strongest practical detector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53312" y="2724912"/>
            <a:ext cx="7205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richer features with a deep belief network delivers the best overall AUC and the highest recall under the 3% false-positive constraint the business actually cares about.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621024"/>
            <a:ext cx="832104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730752"/>
            <a:ext cx="658368" cy="658368"/>
          </a:xfrm>
          <a:prstGeom prst="ellipse">
            <a:avLst/>
          </a:prstGeom>
          <a:solidFill>
            <a:srgbClr val="0D7A5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4904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53312" y="3712464"/>
            <a:ext cx="7205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findings survive independently simulated data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53312" y="4078224"/>
            <a:ext cx="7205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replication holds qualitatively even on freshly generated synthetic transactions — evidence that the paper's mechanism is sound, not an artefact of one particular dataset.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4709160"/>
            <a:ext cx="8321040" cy="292608"/>
          </a:xfrm>
          <a:prstGeom prst="roundRect">
            <a:avLst>
              <a:gd name="adj" fmla="val 18750"/>
            </a:avLst>
          </a:prstGeom>
          <a:solidFill>
            <a:srgbClr val="11182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274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Han, Xu &amp; Wang (2021)  ·  Information Sciences 557, pp. 302–316  ·  ECO 723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8DFCA2-97BB-AA63-628C-308434BDE25D}"/>
              </a:ext>
            </a:extLst>
          </p:cNvPr>
          <p:cNvSpPr/>
          <p:nvPr/>
        </p:nvSpPr>
        <p:spPr>
          <a:xfrm>
            <a:off x="3343665" y="2306574"/>
            <a:ext cx="245667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3126753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1328</Words>
  <Application>Microsoft Office PowerPoint</Application>
  <PresentationFormat>On-screen Show (16:9)</PresentationFormat>
  <Paragraphs>164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with Deep Learning</dc:title>
  <dc:subject>PptxGenJS Presentation</dc:subject>
  <dc:creator>PptxGenJS</dc:creator>
  <cp:lastModifiedBy>Vrishank Saxena</cp:lastModifiedBy>
  <cp:revision>3</cp:revision>
  <dcterms:created xsi:type="dcterms:W3CDTF">2026-07-01T23:09:30Z</dcterms:created>
  <dcterms:modified xsi:type="dcterms:W3CDTF">2026-07-01T23:23:41Z</dcterms:modified>
</cp:coreProperties>
</file>